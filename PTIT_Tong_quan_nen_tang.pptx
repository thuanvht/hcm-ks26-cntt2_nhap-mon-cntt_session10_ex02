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" id="{60b07b65-2270-2900-2964-f775eabcc5db}">
          <p14:sldIdLst>
            <p14:sldId id="256"/>
          </p14:sldIdLst>
        </p14:section>
        <p14:section name="Tính năng" id="{752b6cc0-be84-442a-7193-bd5b927e1349}">
          <p14:sldIdLst>
            <p14:sldId id="257"/>
          </p14:sldIdLst>
        </p14:section>
        <p14:section name="Lộ trình" id="{a4236209-f024-58ec-7ef8-7de1977a4172}">
          <p14:sldIdLst>
            <p14:sldId id="258"/>
          </p14:sldIdLst>
        </p14:section>
        <p14:section name="Kết quả" id="{cc722410-bdf0-f4a2-282a-5a1103537eb0}">
          <p14:sldIdLst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Học viên</c:v>
                </c:pt>
              </c:strCache>
            </c:strRef>
          </c:tx>
          <c:spPr>
            <a:solidFill>
              <a:srgbClr val="7A8F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F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F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F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F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T01</c:v>
                  </c:pt>
                  <c:pt idx="1">
                    <c:v>T02</c:v>
                  </c:pt>
                  <c:pt idx="2">
                    <c:v>T03</c:v>
                  </c:pt>
                  <c:pt idx="3">
                    <c:v>T04</c:v>
                  </c:pt>
                  <c:pt idx="4">
                    <c:v>T05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2300</c:v>
                </c:pt>
                <c:pt idx="2">
                  <c:v>3480</c:v>
                </c:pt>
                <c:pt idx="3">
                  <c:v>5480</c:v>
                </c:pt>
                <c:pt idx="4">
                  <c:v>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Nguồn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8C28"/>
              </a:solidFill>
              <a:effectLst/>
            </c:spPr>
          </c:dPt>
          <c:dPt>
            <c:idx val="1"/>
            <c:bubble3D val="0"/>
            <c:spPr>
              <a:solidFill>
                <a:srgbClr val="9CC3FF"/>
              </a:solidFill>
              <a:effectLst/>
            </c:spPr>
          </c:dPt>
          <c:dPt>
            <c:idx val="2"/>
            <c:bubble3D val="0"/>
            <c:spPr>
              <a:solidFill>
                <a:srgbClr val="5FD3B0"/>
              </a:solidFill>
              <a:effectLst/>
            </c:spPr>
          </c:dPt>
          <c:dPt>
            <c:idx val="3"/>
            <c:bubble3D val="0"/>
            <c:spPr>
              <a:solidFill>
                <a:srgbClr val="F5C2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2000" b="0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2000" b="0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2000" b="0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2000" b="0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Facebook Ads</c:v>
                </c:pt>
                <c:pt idx="2">
                  <c:v>Google Form</c:v>
                </c:pt>
                <c:pt idx="3">
                  <c:v>Zalo OA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23</c:v>
                </c:pt>
                <c:pt idx="2">
                  <c:v>21</c:v>
                </c:pt>
                <c:pt idx="3">
                  <c:v>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20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bằng kết luận: 9.200 học viên đang học qua lớp học 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tính năng tương ứng nhóm yêu cầu FR-01 đến FR-12 trong tài liệu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ba vùng: (1) tiêu đề kết luận, (2) flowchart lộ trình, (3) thông điệp chốt.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9.200 / 1.200 = 7,7 lần. Số liệu T01–T04 là số minh họa.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38% + 23% = 61%. Dữ liệu chi tiết nằm trong file Excel quản lý học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chỉ số tổng kết tháng 5/2024 (số liệu theo đề bài).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Kêu gọi hành động và mở phần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PTIT-Learning: Lớp học ảo giúp 9.200 học viên học mọi lúc, mọi nơi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206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Tổng quan nền tảng học trực tuyến · Tháng 05/2024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Lớp học ảo có 4 tính năng cốt lõi để học trực tuyến như học trên lớp</a:t>
            </a:r>
            <a:endParaRPr lang="en-US" sz="3600" dirty="0"/>
          </a:p>
        </p:txBody>
      </p:sp>
      <p:sp>
        <p:nvSpPr>
          <p:cNvPr id="3" name="Card Phòng học trực tuyến"/>
          <p:cNvSpPr/>
          <p:nvPr/>
        </p:nvSpPr>
        <p:spPr>
          <a:xfrm>
            <a:off x="548640" y="1920240"/>
            <a:ext cx="2651760" cy="402336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ố 1"/>
          <p:cNvSpPr/>
          <p:nvPr/>
        </p:nvSpPr>
        <p:spPr>
          <a:xfrm>
            <a:off x="731520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Phòng học trực tuyến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06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Video, âm thanh và chia sẻ màn hình</a:t>
            </a:r>
            <a:endParaRPr lang="en-US" sz="2000" dirty="0"/>
          </a:p>
        </p:txBody>
      </p:sp>
      <p:sp>
        <p:nvSpPr>
          <p:cNvPr id="8" name="Card Chat và hỏi đáp"/>
          <p:cNvSpPr/>
          <p:nvPr/>
        </p:nvSpPr>
        <p:spPr>
          <a:xfrm>
            <a:off x="3364992" y="1920240"/>
            <a:ext cx="2651760" cy="402336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ố 2"/>
          <p:cNvSpPr/>
          <p:nvPr/>
        </p:nvSpPr>
        <p:spPr>
          <a:xfrm>
            <a:off x="3547872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Chat và hỏi đáp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4206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Giơ tay, nhắn tin ngay trong giờ học</a:t>
            </a:r>
            <a:endParaRPr lang="en-US" sz="2000" dirty="0"/>
          </a:p>
        </p:txBody>
      </p:sp>
      <p:sp>
        <p:nvSpPr>
          <p:cNvPr id="13" name="Card Ghi hình xem lại"/>
          <p:cNvSpPr/>
          <p:nvPr/>
        </p:nvSpPr>
        <p:spPr>
          <a:xfrm>
            <a:off x="6181344" y="1920240"/>
            <a:ext cx="2651760" cy="402336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ố 3"/>
          <p:cNvSpPr/>
          <p:nvPr/>
        </p:nvSpPr>
        <p:spPr>
          <a:xfrm>
            <a:off x="6364224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Ghi hình xem lại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4206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Lưu bản ghi 90 ngày cho mọi học viên</a:t>
            </a:r>
            <a:endParaRPr lang="en-US" sz="2000" dirty="0"/>
          </a:p>
        </p:txBody>
      </p:sp>
      <p:sp>
        <p:nvSpPr>
          <p:cNvPr id="18" name="Card Điểm danh và báo cáo"/>
          <p:cNvSpPr/>
          <p:nvPr/>
        </p:nvSpPr>
        <p:spPr>
          <a:xfrm>
            <a:off x="8997696" y="1920240"/>
            <a:ext cx="2651760" cy="402336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ố 4"/>
          <p:cNvSpPr/>
          <p:nvPr/>
        </p:nvSpPr>
        <p:spPr>
          <a:xfrm>
            <a:off x="9180576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Điểm danh và báo cáo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4206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Tự động, xuất Excel theo lớp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Học viên đi từ đăng ký đến chứng chỉ trong 5 bước, chưa đạt thì ôn tập rồi học lại</a:t>
            </a:r>
            <a:endParaRPr lang="en-US" sz="3600" dirty="0"/>
          </a:p>
        </p:txBody>
      </p:sp>
      <p:sp>
        <p:nvSpPr>
          <p:cNvPr id="3" name="Bước 1"/>
          <p:cNvSpPr/>
          <p:nvPr/>
        </p:nvSpPr>
        <p:spPr>
          <a:xfrm>
            <a:off x="548640" y="2103120"/>
            <a:ext cx="1737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Đăng ký tài khoản</a:t>
            </a:r>
            <a:endParaRPr lang="en-US" sz="2000" dirty="0"/>
          </a:p>
        </p:txBody>
      </p:sp>
      <p:sp>
        <p:nvSpPr>
          <p:cNvPr id="5" name="Bước 2"/>
          <p:cNvSpPr/>
          <p:nvPr/>
        </p:nvSpPr>
        <p:spPr>
          <a:xfrm>
            <a:off x="2606040" y="2103120"/>
            <a:ext cx="1737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Chọn khóa học</a:t>
            </a:r>
            <a:endParaRPr lang="en-US" sz="2000" dirty="0"/>
          </a:p>
        </p:txBody>
      </p:sp>
      <p:sp>
        <p:nvSpPr>
          <p:cNvPr id="7" name="Bước 3"/>
          <p:cNvSpPr/>
          <p:nvPr/>
        </p:nvSpPr>
        <p:spPr>
          <a:xfrm>
            <a:off x="4663440" y="2103120"/>
            <a:ext cx="1737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Học trong lớp học ảo</a:t>
            </a:r>
            <a:endParaRPr lang="en-US" sz="2000" dirty="0"/>
          </a:p>
        </p:txBody>
      </p:sp>
      <p:sp>
        <p:nvSpPr>
          <p:cNvPr id="9" name="Quyết định"/>
          <p:cNvSpPr/>
          <p:nvPr/>
        </p:nvSpPr>
        <p:spPr>
          <a:xfrm>
            <a:off x="6720840" y="1828800"/>
            <a:ext cx="2560320" cy="1554480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1828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Đạt bài kiểm tra?</a:t>
            </a:r>
            <a:endParaRPr lang="en-US" sz="2000" dirty="0"/>
          </a:p>
        </p:txBody>
      </p:sp>
      <p:sp>
        <p:nvSpPr>
          <p:cNvPr id="11" name="Bước 5"/>
          <p:cNvSpPr/>
          <p:nvPr/>
        </p:nvSpPr>
        <p:spPr>
          <a:xfrm>
            <a:off x="9601200" y="210312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Nhận chứng chỉ</a:t>
            </a:r>
            <a:endParaRPr lang="en-US" sz="2000" dirty="0"/>
          </a:p>
        </p:txBody>
      </p:sp>
      <p:sp>
        <p:nvSpPr>
          <p:cNvPr id="13" name="Vòng lặp"/>
          <p:cNvSpPr/>
          <p:nvPr/>
        </p:nvSpPr>
        <p:spPr>
          <a:xfrm>
            <a:off x="6949440" y="402336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4023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Ôn tập và học lại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286000" y="2606040"/>
            <a:ext cx="3200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2606040"/>
            <a:ext cx="3200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606040"/>
            <a:ext cx="3200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606040"/>
            <a:ext cx="3200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3383280"/>
            <a:ext cx="0" cy="6400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5532120" y="4480560"/>
            <a:ext cx="14173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532120" y="3108960"/>
            <a:ext cx="0" cy="13716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144000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Đạt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Chưa đạt</a:t>
            </a:r>
            <a:endParaRPr lang="en-US" sz="1800" dirty="0"/>
          </a:p>
        </p:txBody>
      </p:sp>
      <p:sp>
        <p:nvSpPr>
          <p:cNvPr id="24" name="Vùng kết luận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Mỗi học viên luôn có cơ hội học lại cho đến khi đạt chuẩn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Số học viên tăng gấp 7,7 lần trong 5 tháng, đạt 9.200 ở tháng 5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3736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Website và Facebook Ads mang về 61% lượt đăng ký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73736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61%"/>
          <p:cNvSpPr/>
          <p:nvPr/>
        </p:nvSpPr>
        <p:spPr>
          <a:xfrm>
            <a:off x="8229600" y="2194560"/>
            <a:ext cx="3383280" cy="329184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61%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đăng ký đến từ hai nguồn: Website và Facebook Ads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Tháng 5/2024: 9.200 học viên, 66 khóa học và doanh thu 1,28 tỷ VND</a:t>
            </a:r>
            <a:endParaRPr lang="en-US" sz="3600" dirty="0"/>
          </a:p>
        </p:txBody>
      </p:sp>
      <p:sp>
        <p:nvSpPr>
          <p:cNvPr id="3" name="KPI Học viên đang học"/>
          <p:cNvSpPr/>
          <p:nvPr/>
        </p:nvSpPr>
        <p:spPr>
          <a:xfrm>
            <a:off x="548640" y="2103120"/>
            <a:ext cx="2651760" cy="329184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9.200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Học viên đang học</a:t>
            </a:r>
            <a:endParaRPr lang="en-US" sz="2400" dirty="0"/>
          </a:p>
        </p:txBody>
      </p:sp>
      <p:sp>
        <p:nvSpPr>
          <p:cNvPr id="6" name="KPI Khóa học"/>
          <p:cNvSpPr/>
          <p:nvPr/>
        </p:nvSpPr>
        <p:spPr>
          <a:xfrm>
            <a:off x="3364992" y="2103120"/>
            <a:ext cx="2651760" cy="329184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Khóa học</a:t>
            </a:r>
            <a:endParaRPr lang="en-US" sz="2400" dirty="0"/>
          </a:p>
        </p:txBody>
      </p:sp>
      <p:sp>
        <p:nvSpPr>
          <p:cNvPr id="9" name="KPI Doanh thu (VND)"/>
          <p:cNvSpPr/>
          <p:nvPr/>
        </p:nvSpPr>
        <p:spPr>
          <a:xfrm>
            <a:off x="6181344" y="2103120"/>
            <a:ext cx="2651760" cy="329184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1,28 tỷ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Doanh thu (VND)</a:t>
            </a:r>
            <a:endParaRPr lang="en-US" sz="2400" dirty="0"/>
          </a:p>
        </p:txBody>
      </p:sp>
      <p:sp>
        <p:nvSpPr>
          <p:cNvPr id="12" name="KPI Tỷ suất lợi nhuận"/>
          <p:cNvSpPr/>
          <p:nvPr/>
        </p:nvSpPr>
        <p:spPr>
          <a:xfrm>
            <a:off x="8997696" y="2103120"/>
            <a:ext cx="2651760" cy="3291840"/>
          </a:xfrm>
          <a:prstGeom prst="roundRect">
            <a:avLst>
              <a:gd name="adj" fmla="val 51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89136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28%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Tỷ suất lợi nhuận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Học mọi nơi, học mọi lúc – bắt đầu cùng lớp học ảo ngay hôm nay</a:t>
            </a:r>
            <a:endParaRPr lang="en-US" sz="4400" dirty="0"/>
          </a:p>
        </p:txBody>
      </p:sp>
      <p:sp>
        <p:nvSpPr>
          <p:cNvPr id="3" name="CTA"/>
          <p:cNvSpPr/>
          <p:nvPr/>
        </p:nvSpPr>
        <p:spPr>
          <a:xfrm>
            <a:off x="640080" y="4389120"/>
            <a:ext cx="4754880" cy="9144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Đăng ký học thử miễn phí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-Learning Dark">
  <a:themeElements>
    <a:clrScheme name="PTIT-Learning Dark">
      <a:dk1>
        <a:srgbClr val="0B1F4B"/>
      </a:dk1>
      <a:lt1>
        <a:srgbClr val="FFFFFF"/>
      </a:lt1>
      <a:dk2>
        <a:srgbClr val="16306B"/>
      </a:dk2>
      <a:lt2>
        <a:srgbClr val="DCE6FA"/>
      </a:lt2>
      <a:accent1>
        <a:srgbClr val="F28C28"/>
      </a:accent1>
      <a:accent2>
        <a:srgbClr val="9CC3FF"/>
      </a:accent2>
      <a:accent3>
        <a:srgbClr val="5FD3B0"/>
      </a:accent3>
      <a:accent4>
        <a:srgbClr val="F5C26B"/>
      </a:accent4>
      <a:accent5>
        <a:srgbClr val="7A8FC0"/>
      </a:accent5>
      <a:accent6>
        <a:srgbClr val="E5484D"/>
      </a:accent6>
      <a:hlink>
        <a:srgbClr val="9CC3FF"/>
      </a:hlink>
      <a:folHlink>
        <a:srgbClr val="F5C26B"/>
      </a:folHlink>
    </a:clrScheme>
    <a:fontScheme name="PTIT-Learning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 – Tổng quan nền tảng</dc:title>
  <dc:subject>PptxGenJS Presentation</dc:subject>
  <dc:creator>PptxGenJS</dc:creator>
  <cp:lastModifiedBy>PptxGenJS</cp:lastModifiedBy>
  <cp:revision>1</cp:revision>
  <dcterms:created xsi:type="dcterms:W3CDTF">2026-10-26T11:12:28Z</dcterms:created>
  <dcterms:modified xsi:type="dcterms:W3CDTF">2026-10-26T11:12:28Z</dcterms:modified>
</cp:coreProperties>
</file>